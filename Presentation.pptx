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4"/>
  </p:sldMasterIdLst>
  <p:notesMasterIdLst>
    <p:notesMasterId r:id="rId14"/>
  </p:notesMasterIdLst>
  <p:handoutMasterIdLst>
    <p:handoutMasterId r:id="rId15"/>
  </p:handoutMasterIdLst>
  <p:sldIdLst>
    <p:sldId id="442" r:id="rId5"/>
    <p:sldId id="443" r:id="rId6"/>
    <p:sldId id="444" r:id="rId7"/>
    <p:sldId id="445" r:id="rId8"/>
    <p:sldId id="446" r:id="rId9"/>
    <p:sldId id="447" r:id="rId10"/>
    <p:sldId id="448" r:id="rId11"/>
    <p:sldId id="449" r:id="rId12"/>
    <p:sldId id="45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ACFC"/>
    <a:srgbClr val="09090C"/>
    <a:srgbClr val="FFFFFF"/>
    <a:srgbClr val="000000"/>
    <a:srgbClr val="9B8C69"/>
    <a:srgbClr val="79958B"/>
    <a:srgbClr val="476262"/>
    <a:srgbClr val="272D2B"/>
    <a:srgbClr val="647E6B"/>
    <a:srgbClr val="A2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66BBE4-E4D4-19D6-93FF-B68D14F07FBE}" v="179" dt="2026-01-17T14:31:02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8" autoAdjust="0"/>
    <p:restoredTop sz="94660"/>
  </p:normalViewPr>
  <p:slideViewPr>
    <p:cSldViewPr snapToGrid="0">
      <p:cViewPr>
        <p:scale>
          <a:sx n="100" d="100"/>
          <a:sy n="100" d="100"/>
        </p:scale>
        <p:origin x="77" y="298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-90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18B6240-78DA-093E-542D-EA8232A522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21978-CD08-4DE4-0B35-D8E00EB982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042AC-E7EB-4533-80AB-C3850196CED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33651-3489-31BD-ED31-0609855FBC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1A6A1-1395-B89B-42E0-2208966D9F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1E2F7-14E3-4821-A409-B7BC1E27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0621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863BC9-3C98-4AB2-8802-02853E289FB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E5B5A-C175-4C17-879C-A25F50F47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428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6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7129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71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35E5011-9B67-D528-E120-F5ABBF8FE5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5" r="1082" b="9618"/>
          <a:stretch>
            <a:fillRect/>
          </a:stretch>
        </p:blipFill>
        <p:spPr>
          <a:xfrm>
            <a:off x="-13716" y="0"/>
            <a:ext cx="12205716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9965342-2954-67DF-2693-F39C0B9F8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426598"/>
            <a:ext cx="9942409" cy="671387"/>
          </a:xfrm>
        </p:spPr>
        <p:txBody>
          <a:bodyPr/>
          <a:lstStyle>
            <a:lvl1pPr>
              <a:defRPr sz="4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EB4B13F-216B-09EA-9E05-12FBA70B8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3" y="1097985"/>
            <a:ext cx="3704199" cy="1035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8793" y="6357493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36185" y="6357493"/>
            <a:ext cx="225864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72F7A5-01BF-4366-9757-1F523CD5236A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57493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5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056372A1-E778-B10F-98CF-995841167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4" t="9400" r="1623" b="307"/>
          <a:stretch>
            <a:fillRect/>
          </a:stretch>
        </p:blipFill>
        <p:spPr>
          <a:xfrm>
            <a:off x="0" y="875"/>
            <a:ext cx="12192000" cy="6857125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7D2650CC-89A0-A174-E856-05805DBC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356684"/>
            <a:ext cx="6346974" cy="2667527"/>
          </a:xfrm>
        </p:spPr>
        <p:txBody>
          <a:bodyPr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E66F2C5-A94C-40FD-0A7D-A7D69599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4" y="5266344"/>
            <a:ext cx="3291920" cy="98205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22117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22117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26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red and purple light&#10;&#10;AI-generated content may be incorrect.">
            <a:extLst>
              <a:ext uri="{FF2B5EF4-FFF2-40B4-BE49-F238E27FC236}">
                <a16:creationId xmlns:a16="http://schemas.microsoft.com/office/drawing/2014/main" id="{34DC879D-8888-CA20-363B-ADD601ABDB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" t="34949" r="91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491" y="2122471"/>
            <a:ext cx="7348909" cy="167264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6399" y="2122470"/>
            <a:ext cx="2052235" cy="167264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284" y="233990"/>
            <a:ext cx="257868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6573"/>
            <a:ext cx="15621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92309C-B050-4356-96E7-0276C1563BD7}" type="datetime1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400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86116429-CFD9-2016-C240-A97B232DE4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11" t="2700" r="25757" b="19631"/>
          <a:stretch>
            <a:fillRect/>
          </a:stretch>
        </p:blipFill>
        <p:spPr>
          <a:xfrm rot="10800000" flipH="1">
            <a:off x="0" y="-1713"/>
            <a:ext cx="1220571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693" y="2705100"/>
            <a:ext cx="11562393" cy="41529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15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3135" y="564350"/>
            <a:ext cx="3645744" cy="90586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9462" y="197680"/>
            <a:ext cx="256177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06100" y="209088"/>
            <a:ext cx="102298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FF4B2E-F868-48E9-9355-A1AA601AAA8B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31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AD7145-734D-256B-1335-1014B6A32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952" cy="3429000"/>
          </a:xfrm>
          <a:gradFill>
            <a:gsLst>
              <a:gs pos="55000">
                <a:srgbClr val="000000">
                  <a:alpha val="53000"/>
                </a:srgbClr>
              </a:gs>
              <a:gs pos="87000">
                <a:srgbClr val="000000">
                  <a:alpha val="63922"/>
                </a:srgbClr>
              </a:gs>
              <a:gs pos="23000">
                <a:srgbClr val="000000">
                  <a:alpha val="0"/>
                </a:srgbClr>
              </a:gs>
            </a:gsLst>
            <a:lin ang="15900000" scaled="0"/>
          </a:gradFill>
        </p:spPr>
        <p:txBody>
          <a:bodyPr lIns="457200" tIns="685800" rIns="5029200" bIns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C312AD0-A2D2-0388-F1F0-E17A9F789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4192" y="-1"/>
            <a:ext cx="3740652" cy="3050627"/>
          </a:xfrm>
        </p:spPr>
        <p:txBody>
          <a:bodyPr vert="horz" lIns="594360" tIns="685800" rIns="320040" bIns="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9100" y="220344"/>
            <a:ext cx="25527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10065" y="219456"/>
            <a:ext cx="19050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88609" y="215988"/>
            <a:ext cx="555948" cy="3371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23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DC0447-22FD-BF05-BC68-3FDEDEDFC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5323784" cy="6858000"/>
          </a:xfrm>
          <a:gradFill>
            <a:gsLst>
              <a:gs pos="41000">
                <a:srgbClr val="000000">
                  <a:alpha val="46000"/>
                </a:srgbClr>
              </a:gs>
              <a:gs pos="71000">
                <a:srgbClr val="000000">
                  <a:alpha val="58000"/>
                </a:srgbClr>
              </a:gs>
              <a:gs pos="100000">
                <a:srgbClr val="000000">
                  <a:alpha val="61000"/>
                </a:srgbClr>
              </a:gs>
              <a:gs pos="10000">
                <a:srgbClr val="000000">
                  <a:alpha val="0"/>
                </a:srgbClr>
              </a:gs>
            </a:gsLst>
            <a:lin ang="10800000" scaled="0"/>
          </a:gradFill>
        </p:spPr>
        <p:txBody>
          <a:bodyPr lIns="457200" tIns="1371600" rIns="822960" bIns="91440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A1999F2-A538-F369-DF48-BB68DFFF8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099" y="6032498"/>
            <a:ext cx="4419599" cy="579757"/>
          </a:xfrm>
        </p:spPr>
        <p:txBody>
          <a:bodyPr vert="horz" lIns="91440" tIns="0" rIns="91440" bIns="0" rtlCol="0" anchor="t">
            <a:normAutofit/>
          </a:bodyPr>
          <a:lstStyle>
            <a:lvl1pPr marL="0" indent="0">
              <a:lnSpc>
                <a:spcPct val="120000"/>
              </a:lnSpc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9100" y="220344"/>
            <a:ext cx="25527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01100" y="213072"/>
            <a:ext cx="19050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5988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70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86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643" y="1114447"/>
            <a:ext cx="5442757" cy="292152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468" y="4993008"/>
            <a:ext cx="3972704" cy="124799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605" y="215057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5989" y="215057"/>
            <a:ext cx="15370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8EA85A9-CA9F-4339-89EF-28F09ED3FE86}" type="datetime1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1909" y="215057"/>
            <a:ext cx="540412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8C1F583-2497-2836-36DF-2076DFFFBA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83830" y="1181100"/>
            <a:ext cx="4408170" cy="5701208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44259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2872" y="1115568"/>
            <a:ext cx="2960028" cy="368476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4423" y="5004262"/>
            <a:ext cx="2968477" cy="124413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59785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12872" y="219456"/>
            <a:ext cx="155032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D904F51-6E72-42BA-AFA1-975939F2ADF3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3129" y="219456"/>
            <a:ext cx="53958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84B0817-C121-ACE0-AD00-44CE3924177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181099"/>
            <a:ext cx="8367452" cy="5685213"/>
          </a:xfrm>
          <a:custGeom>
            <a:avLst/>
            <a:gdLst>
              <a:gd name="connsiteX0" fmla="*/ 0 w 6769976"/>
              <a:gd name="connsiteY0" fmla="*/ 0 h 5895164"/>
              <a:gd name="connsiteX1" fmla="*/ 6769976 w 6769976"/>
              <a:gd name="connsiteY1" fmla="*/ 0 h 5895164"/>
              <a:gd name="connsiteX2" fmla="*/ 6769976 w 6769976"/>
              <a:gd name="connsiteY2" fmla="*/ 5895164 h 5895164"/>
              <a:gd name="connsiteX3" fmla="*/ 0 w 6769976"/>
              <a:gd name="connsiteY3" fmla="*/ 5895164 h 5895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9976" h="5895164">
                <a:moveTo>
                  <a:pt x="0" y="0"/>
                </a:moveTo>
                <a:lnTo>
                  <a:pt x="6769976" y="0"/>
                </a:lnTo>
                <a:lnTo>
                  <a:pt x="6769976" y="5895164"/>
                </a:lnTo>
                <a:lnTo>
                  <a:pt x="0" y="589516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30262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6903" y="4822407"/>
            <a:ext cx="6925432" cy="135134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35224" y="4822406"/>
            <a:ext cx="2724238" cy="135134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78C40B5-A026-132B-C915-2335F94E4A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66900" y="0"/>
            <a:ext cx="10325100" cy="4653649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76903" y="6447496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224" y="6451888"/>
            <a:ext cx="1581238" cy="33832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effectLst/>
              </a:defRPr>
            </a:lvl1pPr>
          </a:lstStyle>
          <a:p>
            <a:fld id="{096358FC-80A5-41A4-8D07-88F12E18DF82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0357" y="645188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02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51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pink and purple light&#10;&#10;AI-generated content may be incorrect.">
            <a:extLst>
              <a:ext uri="{FF2B5EF4-FFF2-40B4-BE49-F238E27FC236}">
                <a16:creationId xmlns:a16="http://schemas.microsoft.com/office/drawing/2014/main" id="{B984133B-2ACD-DC2E-DD48-CC86F40637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6416" y="219456"/>
            <a:ext cx="1494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439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1338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8AD56A61-7CC3-3597-02EB-CC5DE117DB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8" t="8959" r="915" b="25228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7" y="915709"/>
            <a:ext cx="11404534" cy="1604654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72400" y="2705100"/>
            <a:ext cx="4000500" cy="368202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7234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70317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BA44554C-C893-3987-6CAA-1AE3D3275A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r="1" b="13701"/>
          <a:stretch>
            <a:fillRect/>
          </a:stretch>
        </p:blipFill>
        <p:spPr>
          <a:xfrm rot="5400000" flipV="1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762539"/>
            <a:ext cx="3987207" cy="2073091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1993" y="214858"/>
            <a:ext cx="15227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034B68-E20D-4A56-8B99-0EF3081FA97A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1993" y="1762539"/>
            <a:ext cx="3482340" cy="207309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  <a:lvl2pPr marL="228600" indent="0">
              <a:buNone/>
              <a:defRPr lang="en-US" dirty="0">
                <a:solidFill>
                  <a:schemeClr val="tx1"/>
                </a:solidFill>
              </a:defRPr>
            </a:lvl2pPr>
            <a:lvl3pPr marL="457200" indent="0">
              <a:buNone/>
              <a:defRPr lang="en-US" dirty="0">
                <a:solidFill>
                  <a:schemeClr val="tx1"/>
                </a:solidFill>
              </a:defRPr>
            </a:lvl3pPr>
            <a:lvl4pPr marL="685800" indent="0">
              <a:buNone/>
              <a:defRPr lang="en-US" dirty="0">
                <a:solidFill>
                  <a:schemeClr val="tx1"/>
                </a:solidFill>
              </a:defRPr>
            </a:lvl4pPr>
            <a:lvl5pPr marL="914400" indent="0">
              <a:buNone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01589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B193FB30-082C-50CD-EEC9-7D410FFB62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257" t="5088" r="86" b="21926"/>
          <a:stretch>
            <a:fillRect/>
          </a:stretch>
        </p:blipFill>
        <p:spPr>
          <a:xfrm flipH="1">
            <a:off x="0" y="0"/>
            <a:ext cx="12192000" cy="6855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4380" y="1276990"/>
            <a:ext cx="5385079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12904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980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2904" y="2471736"/>
            <a:ext cx="5385079" cy="349312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8896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9351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A9C84165-A857-83C5-C6BE-C4EB68C906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59"/>
          <a:stretch>
            <a:fillRect/>
          </a:stretch>
        </p:blipFill>
        <p:spPr>
          <a:xfrm flipH="1">
            <a:off x="0" y="2040834"/>
            <a:ext cx="12192000" cy="48171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1946412"/>
            <a:ext cx="2971800" cy="3192118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4858"/>
            <a:ext cx="2452852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8C06331-6E41-42DD-926E-C670E485C891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980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38700" y="1946413"/>
            <a:ext cx="5189220" cy="319211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66498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1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66005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8" y="1828800"/>
            <a:ext cx="8496302" cy="1010093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30B0CD9-4253-4E22-9BCD-0DF67297DF8E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6900" y="3168292"/>
            <a:ext cx="8496300" cy="262540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79987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26457"/>
            <a:ext cx="3667167" cy="28892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7677" y="214858"/>
            <a:ext cx="1522740" cy="338328"/>
          </a:xfrm>
        </p:spPr>
        <p:txBody>
          <a:bodyPr/>
          <a:lstStyle/>
          <a:p>
            <a:fld id="{81C379B3-3585-4FAF-BD63-57B9BB47E12C}" type="datetime1">
              <a:rPr lang="en-US" smtClean="0"/>
              <a:t>1/17/2026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258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7677" y="1126457"/>
            <a:ext cx="5848423" cy="51219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24968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26457"/>
            <a:ext cx="2920407" cy="28892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1811877" cy="338328"/>
          </a:xfrm>
        </p:spPr>
        <p:txBody>
          <a:bodyPr/>
          <a:lstStyle/>
          <a:p>
            <a:fld id="{81C379B3-3585-4FAF-BD63-57B9BB47E12C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258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55523" y="1126457"/>
            <a:ext cx="7503203" cy="51219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76255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743087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5467" y="1115568"/>
            <a:ext cx="2505264" cy="16241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15467" y="215823"/>
            <a:ext cx="189925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650" y="215823"/>
            <a:ext cx="538545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1181100"/>
            <a:ext cx="8356833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15467" y="3646713"/>
            <a:ext cx="2505264" cy="27286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289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8B2456C-66BE-435E-8059-3A9CD55F29F9}" type="datetime1">
              <a:rPr lang="en-US" smtClean="0"/>
              <a:t>1/17/2026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853582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7409D93-5111-4952-AC4F-FA1AE909A4B8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07995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7906" y="1115568"/>
            <a:ext cx="3608254" cy="138958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4791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7905" y="219456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90D2F5B-FA0B-4BE5-A43F-B1BC737359C6}" type="datetime1">
              <a:rPr lang="en-US" smtClean="0"/>
              <a:t>1/17/2026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63D2D48-CE58-FD80-93F7-B87C97B9040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7336219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77904" y="2705100"/>
            <a:ext cx="3608255" cy="37338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99711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32533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1115568"/>
            <a:ext cx="4643555" cy="16002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478874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399" y="208604"/>
            <a:ext cx="245079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3D817FD-3A47-446D-9853-4CD5CA57130C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4766" y="1181100"/>
            <a:ext cx="5352086" cy="2615648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67398" y="4055164"/>
            <a:ext cx="5449453" cy="219323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71343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1935215-257D-4F50-AF56-70E3294947FA}" type="datetime1">
              <a:rPr lang="en-US" smtClean="0"/>
              <a:t>1/17/2026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824980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B0E3CDF-6E7C-4C67-B567-8606B07963A0}" type="datetime1">
              <a:rPr lang="en-US" smtClean="0"/>
              <a:t>1/17/2026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08604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1115568"/>
            <a:ext cx="2514599" cy="2463733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51460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4832" y="208604"/>
            <a:ext cx="147386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E423F1-C154-447D-8038-21B94CB501EB}" type="datetime1">
              <a:rPr lang="en-US" smtClean="0"/>
              <a:t>1/17/2026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4833" y="1106780"/>
            <a:ext cx="8286147" cy="24637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49057" y="4159154"/>
            <a:ext cx="8742943" cy="2698845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7085382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1115568"/>
            <a:ext cx="2514599" cy="2463733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51460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4832" y="208604"/>
            <a:ext cx="147386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E423F1-C154-447D-8038-21B94CB501EB}" type="datetime1">
              <a:rPr lang="en-US" smtClean="0"/>
              <a:t>1/17/2026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4834" y="1106780"/>
            <a:ext cx="8408066" cy="24637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4159154"/>
            <a:ext cx="12192000" cy="269884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101644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060FE60-4389-4D8B-84BB-900FC000024C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852135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02" y="1115568"/>
            <a:ext cx="6931698" cy="100283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154" y="216914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84825" y="216914"/>
            <a:ext cx="2338650" cy="338328"/>
          </a:xfrm>
        </p:spPr>
        <p:txBody>
          <a:bodyPr/>
          <a:lstStyle/>
          <a:p>
            <a:fld id="{CDFDD458-C945-484A-9891-FE9FDA97486D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010" y="216914"/>
            <a:ext cx="557090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1601" y="2133600"/>
            <a:ext cx="6931699" cy="4305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6075FF6-E149-1A82-B924-97E715A8DF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82262" y="1184555"/>
            <a:ext cx="4209738" cy="567344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517433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3496809" cy="30707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562100" cy="338328"/>
          </a:xfrm>
        </p:spPr>
        <p:txBody>
          <a:bodyPr/>
          <a:lstStyle/>
          <a:p>
            <a:fld id="{94725937-D428-4BAE-A05C-202DA13E49D5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9695" y="1193656"/>
            <a:ext cx="3962400" cy="5664344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23960" y="1122776"/>
            <a:ext cx="2717800" cy="53161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09260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2515758" cy="29464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399" y="214858"/>
            <a:ext cx="1718441" cy="338328"/>
          </a:xfrm>
        </p:spPr>
        <p:txBody>
          <a:bodyPr/>
          <a:lstStyle/>
          <a:p>
            <a:fld id="{709FB1D6-B85F-447E-8712-A80ECD75AAB1}" type="datetime1">
              <a:rPr lang="en-US" smtClean="0"/>
              <a:t>1/17/2026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1696" y="214858"/>
            <a:ext cx="53852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798" y="1104900"/>
            <a:ext cx="3756213" cy="51435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AC86244-A1E7-A69F-206A-B47C58B746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43347" y="1181100"/>
            <a:ext cx="4348653" cy="5676899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771676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37126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FCE55E5-7E1C-4243-A685-91A6EB8BE97F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99375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4071668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5586A49A-95E2-7B45-57DD-762AFFF194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2" t="-1" r="2873" b="7130"/>
          <a:stretch>
            <a:fillRect/>
          </a:stretch>
        </p:blipFill>
        <p:spPr>
          <a:xfrm rot="10800000" flipH="1" flipV="1">
            <a:off x="0" y="-1"/>
            <a:ext cx="12192000" cy="6855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5144654"/>
            <a:ext cx="5435008" cy="129424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00000"/>
              </a:lnSpc>
              <a:defRPr lang="en-US" sz="2000" spc="-5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60BA8B-5FF3-49A6-9895-94F61A8CE576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3AAB847-04D8-7C24-A07E-65F280B26D5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4488" y="552450"/>
            <a:ext cx="11498262" cy="3937000"/>
          </a:xfrm>
        </p:spPr>
        <p:txBody>
          <a:bodyPr anchor="b"/>
          <a:lstStyle>
            <a:lvl1pPr>
              <a:defRPr sz="275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7671399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C39E5039-4CEB-24E7-A2E7-F7D46B2D8B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98"/>
            <a:ext cx="12223173" cy="68816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50697A7-9277-BB02-6AE2-42676133D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802640"/>
            <a:ext cx="4000500" cy="1137920"/>
          </a:xfrm>
        </p:spPr>
        <p:txBody>
          <a:bodyPr/>
          <a:lstStyle>
            <a:lvl1pPr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DFA7E-E414-422B-ACFF-8C3D6A1A67FB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C871739-B2C5-FF57-BBD7-3F61A35A3F3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58775" y="2684463"/>
            <a:ext cx="11414125" cy="4411662"/>
          </a:xfrm>
        </p:spPr>
        <p:txBody>
          <a:bodyPr lIns="0" tIns="0" rIns="0" bIns="0" anchor="b"/>
          <a:lstStyle>
            <a:lvl1pPr>
              <a:lnSpc>
                <a:spcPct val="85000"/>
              </a:lnSpc>
              <a:defRPr sz="305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9976010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48001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purple light&#10;&#10;AI-generated content may be incorrect.">
            <a:extLst>
              <a:ext uri="{FF2B5EF4-FFF2-40B4-BE49-F238E27FC236}">
                <a16:creationId xmlns:a16="http://schemas.microsoft.com/office/drawing/2014/main" id="{2424DF04-0206-4859-9FB9-6A2579527E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8" t="38163" r="27927" b="10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0" y="219456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20200" y="219456"/>
            <a:ext cx="15227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B68620-47AE-4F32-A04B-1342501F877C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52800" y="1405719"/>
            <a:ext cx="7353300" cy="4012442"/>
          </a:xfrm>
        </p:spPr>
        <p:txBody>
          <a:bodyPr anchor="t">
            <a:normAutofit/>
          </a:bodyPr>
          <a:lstStyle>
            <a:lvl1pPr marL="0" indent="0">
              <a:lnSpc>
                <a:spcPct val="85000"/>
              </a:lnSpc>
              <a:buNone/>
              <a:defRPr sz="54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236271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06D2715B-CAEE-9AAB-7191-D98012435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" r="1125" b="21235"/>
          <a:stretch>
            <a:fillRect/>
          </a:stretch>
        </p:blipFill>
        <p:spPr>
          <a:xfrm rot="10800000">
            <a:off x="0" y="875"/>
            <a:ext cx="12192000" cy="6857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38700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A8EBD6-625B-484B-BC25-3573CF53D407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38700" y="1740023"/>
            <a:ext cx="6310269" cy="4637725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28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24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57941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133600"/>
            <a:ext cx="9393641" cy="4305299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72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5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06026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57032959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027268CA-0348-F6FC-5FB0-87BADE436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2" r="20481"/>
          <a:stretch>
            <a:fillRect/>
          </a:stretch>
        </p:blipFill>
        <p:spPr>
          <a:xfrm rot="5400000" flipH="1">
            <a:off x="2667001" y="-2667001"/>
            <a:ext cx="6858000" cy="12192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392" y="5226427"/>
            <a:ext cx="8382001" cy="837861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14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DCC6FE3-E805-41B1-96EC-B0B83218C881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2392" y="2017401"/>
            <a:ext cx="8368707" cy="2981163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75706724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orful light on a black background&#10;&#10;AI-generated content may be incorrect.">
            <a:extLst>
              <a:ext uri="{FF2B5EF4-FFF2-40B4-BE49-F238E27FC236}">
                <a16:creationId xmlns:a16="http://schemas.microsoft.com/office/drawing/2014/main" id="{F0687863-E84B-D6E2-6049-AF65BB197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1115568"/>
            <a:ext cx="12192000" cy="5742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982" y="5029200"/>
            <a:ext cx="8347118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1400" b="0" cap="all" spc="-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BB5726-A743-47D1-86E4-46BB349D0446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3982" y="1115568"/>
            <a:ext cx="8347118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969310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52439AE8-E053-A902-BEE2-9CECF6AEA2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769" t="8943" r="104" b="13677"/>
          <a:stretch>
            <a:fillRect/>
          </a:stretch>
        </p:blipFill>
        <p:spPr>
          <a:xfrm>
            <a:off x="0" y="0"/>
            <a:ext cx="12192000" cy="685712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DFF10A2-0E03-73DB-5224-98043612F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791" y="5151120"/>
            <a:ext cx="5446609" cy="806517"/>
          </a:xfrm>
        </p:spPr>
        <p:txBody>
          <a:bodyPr anchor="ctr"/>
          <a:lstStyle>
            <a:lvl1pPr>
              <a:defRPr sz="140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F47579-571B-45A3-BDCA-E2964689F659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501541"/>
            <a:ext cx="7342632" cy="3397064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  <a:defRPr sz="43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758923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6436" y="4671787"/>
            <a:ext cx="7179129" cy="102870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26E2CA6-CB6A-465C-BAA7-384FD497485D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06435" y="1623265"/>
            <a:ext cx="7179130" cy="3048522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230738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164235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1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09838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2946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3252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3363393" cy="1371600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95C13-5B9F-4AD1-A2E2-FB0B577AF6CA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393" y="2563585"/>
            <a:ext cx="3363393" cy="3684815"/>
          </a:xfrm>
        </p:spPr>
        <p:txBody>
          <a:bodyPr anchor="b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8700" y="1104900"/>
            <a:ext cx="6934200" cy="52012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400" dirty="0">
                <a:solidFill>
                  <a:schemeClr val="tx1"/>
                </a:solidFill>
              </a:defRPr>
            </a:lvl1pPr>
            <a:lvl2pPr>
              <a:defRPr lang="en-US" sz="1200" dirty="0">
                <a:solidFill>
                  <a:schemeClr val="tx1"/>
                </a:solidFill>
              </a:defRPr>
            </a:lvl2pPr>
            <a:lvl3pPr>
              <a:defRPr lang="en-US" sz="12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98671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104901"/>
            <a:ext cx="2932434" cy="1600200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01692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9456"/>
            <a:ext cx="142984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189146-EED2-4B95-95A3-EC3C7CBF180D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7593" y="216280"/>
            <a:ext cx="56063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66900" y="3345180"/>
            <a:ext cx="2620859" cy="309372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723B90-4D46-48FC-60FC-714099462E4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924129" y="1104900"/>
            <a:ext cx="7267870" cy="5753100"/>
          </a:xfrm>
          <a:custGeom>
            <a:avLst/>
            <a:gdLst>
              <a:gd name="connsiteX0" fmla="*/ 0 w 7353300"/>
              <a:gd name="connsiteY0" fmla="*/ 0 h 5901550"/>
              <a:gd name="connsiteX1" fmla="*/ 7353300 w 7353300"/>
              <a:gd name="connsiteY1" fmla="*/ 0 h 5901550"/>
              <a:gd name="connsiteX2" fmla="*/ 7353300 w 7353300"/>
              <a:gd name="connsiteY2" fmla="*/ 5901550 h 5901550"/>
              <a:gd name="connsiteX3" fmla="*/ 0 w 7353300"/>
              <a:gd name="connsiteY3" fmla="*/ 5901550 h 590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53300" h="5901550">
                <a:moveTo>
                  <a:pt x="0" y="0"/>
                </a:moveTo>
                <a:lnTo>
                  <a:pt x="7353300" y="0"/>
                </a:lnTo>
                <a:lnTo>
                  <a:pt x="7353300" y="5901550"/>
                </a:lnTo>
                <a:lnTo>
                  <a:pt x="0" y="590155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475306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09825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8203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3599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6" r:id="rId1"/>
    <p:sldLayoutId id="2147483652" r:id="rId2"/>
    <p:sldLayoutId id="2147483733" r:id="rId3"/>
    <p:sldLayoutId id="2147483657" r:id="rId4"/>
    <p:sldLayoutId id="2147483744" r:id="rId5"/>
    <p:sldLayoutId id="2147483658" r:id="rId6"/>
    <p:sldLayoutId id="2147483732" r:id="rId7"/>
    <p:sldLayoutId id="2147483741" r:id="rId8"/>
    <p:sldLayoutId id="2147483760" r:id="rId9"/>
    <p:sldLayoutId id="2147483745" r:id="rId10"/>
    <p:sldLayoutId id="2147483654" r:id="rId11"/>
    <p:sldLayoutId id="2147483759" r:id="rId12"/>
    <p:sldLayoutId id="2147483707" r:id="rId13"/>
    <p:sldLayoutId id="2147483659" r:id="rId14"/>
    <p:sldLayoutId id="2147483764" r:id="rId15"/>
    <p:sldLayoutId id="2147483660" r:id="rId16"/>
    <p:sldLayoutId id="2147483765" r:id="rId17"/>
    <p:sldLayoutId id="2147483661" r:id="rId18"/>
    <p:sldLayoutId id="2147483662" r:id="rId19"/>
    <p:sldLayoutId id="2147483742" r:id="rId20"/>
    <p:sldLayoutId id="2147483746" r:id="rId21"/>
    <p:sldLayoutId id="2147483664" r:id="rId22"/>
    <p:sldLayoutId id="2147483663" r:id="rId23"/>
    <p:sldLayoutId id="2147483743" r:id="rId24"/>
    <p:sldLayoutId id="2147483666" r:id="rId25"/>
    <p:sldLayoutId id="2147483769" r:id="rId26"/>
    <p:sldLayoutId id="2147483676" r:id="rId27"/>
    <p:sldLayoutId id="2147483758" r:id="rId28"/>
    <p:sldLayoutId id="2147483680" r:id="rId29"/>
    <p:sldLayoutId id="2147483734" r:id="rId30"/>
    <p:sldLayoutId id="2147483671" r:id="rId31"/>
    <p:sldLayoutId id="2147483751" r:id="rId32"/>
    <p:sldLayoutId id="2147483675" r:id="rId33"/>
    <p:sldLayoutId id="2147483703" r:id="rId34"/>
    <p:sldLayoutId id="2147483752" r:id="rId35"/>
    <p:sldLayoutId id="2147483737" r:id="rId36"/>
    <p:sldLayoutId id="2147483753" r:id="rId37"/>
    <p:sldLayoutId id="2147483674" r:id="rId38"/>
    <p:sldLayoutId id="2147483702" r:id="rId39"/>
    <p:sldLayoutId id="2147483670" r:id="rId40"/>
    <p:sldLayoutId id="2147483735" r:id="rId41"/>
    <p:sldLayoutId id="2147483669" r:id="rId42"/>
    <p:sldLayoutId id="2147483682" r:id="rId43"/>
    <p:sldLayoutId id="2147483719" r:id="rId44"/>
    <p:sldLayoutId id="2147483686" r:id="rId45"/>
    <p:sldLayoutId id="2147483720" r:id="rId46"/>
    <p:sldLayoutId id="2147483768" r:id="rId47"/>
    <p:sldLayoutId id="2147483710" r:id="rId48"/>
    <p:sldLayoutId id="2147483729" r:id="rId49"/>
    <p:sldLayoutId id="2147483730" r:id="rId50"/>
    <p:sldLayoutId id="2147483713" r:id="rId51"/>
    <p:sldLayoutId id="2147483693" r:id="rId52"/>
    <p:sldLayoutId id="2147483690" r:id="rId53"/>
    <p:sldLayoutId id="2147483726" r:id="rId54"/>
    <p:sldLayoutId id="2147483691" r:id="rId55"/>
    <p:sldLayoutId id="2147483694" r:id="rId56"/>
    <p:sldLayoutId id="2147483695" r:id="rId57"/>
    <p:sldLayoutId id="2147483696" r:id="rId58"/>
    <p:sldLayoutId id="2147483697" r:id="rId59"/>
    <p:sldLayoutId id="2147483698" r:id="rId60"/>
    <p:sldLayoutId id="2147483699" r:id="rId61"/>
    <p:sldLayoutId id="2147483700" r:id="rId62"/>
    <p:sldLayoutId id="2147483701" r:id="rId63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 userDrawn="1">
          <p15:clr>
            <a:srgbClr val="F26B43"/>
          </p15:clr>
        </p15:guide>
        <p15:guide id="4" orient="horz" pos="264" userDrawn="1">
          <p15:clr>
            <a:srgbClr val="F26B43"/>
          </p15:clr>
        </p15:guide>
        <p15:guide id="5" pos="7416" userDrawn="1">
          <p15:clr>
            <a:srgbClr val="F26B43"/>
          </p15:clr>
        </p15:guide>
        <p15:guide id="12" pos="4632" userDrawn="1">
          <p15:clr>
            <a:srgbClr val="F26B43"/>
          </p15:clr>
        </p15:guide>
        <p15:guide id="13" pos="5544" userDrawn="1">
          <p15:clr>
            <a:srgbClr val="F26B43"/>
          </p15:clr>
        </p15:guide>
        <p15:guide id="26" pos="2784" userDrawn="1">
          <p15:clr>
            <a:srgbClr val="F26B43"/>
          </p15:clr>
        </p15:guide>
        <p15:guide id="27" pos="3048" userDrawn="1">
          <p15:clr>
            <a:srgbClr val="F26B43"/>
          </p15:clr>
        </p15:guide>
        <p15:guide id="29" pos="3960" userDrawn="1">
          <p15:clr>
            <a:srgbClr val="F26B43"/>
          </p15:clr>
        </p15:guide>
        <p15:guide id="30" pos="1176" userDrawn="1">
          <p15:clr>
            <a:srgbClr val="F26B43"/>
          </p15:clr>
        </p15:guide>
        <p15:guide id="31" pos="912" userDrawn="1">
          <p15:clr>
            <a:srgbClr val="F26B43"/>
          </p15:clr>
        </p15:guide>
        <p15:guide id="32" pos="3696" userDrawn="1">
          <p15:clr>
            <a:srgbClr val="F26B43"/>
          </p15:clr>
        </p15:guide>
        <p15:guide id="33" pos="1848" userDrawn="1">
          <p15:clr>
            <a:srgbClr val="F26B43"/>
          </p15:clr>
        </p15:guide>
        <p15:guide id="34" pos="2112" userDrawn="1">
          <p15:clr>
            <a:srgbClr val="F26B43"/>
          </p15:clr>
        </p15:guide>
        <p15:guide id="36" pos="6528" userDrawn="1">
          <p15:clr>
            <a:srgbClr val="F26B43"/>
          </p15:clr>
        </p15:guide>
        <p15:guide id="37" pos="6744" userDrawn="1">
          <p15:clr>
            <a:srgbClr val="F26B43"/>
          </p15:clr>
        </p15:guide>
        <p15:guide id="42" orient="horz" pos="3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EA4D2C-4D5C-AC28-D8CC-859AFF9DB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8815" y="2356708"/>
            <a:ext cx="4800600" cy="2762187"/>
          </a:xfrm>
        </p:spPr>
        <p:txBody>
          <a:bodyPr>
            <a:normAutofit fontScale="90000"/>
          </a:bodyPr>
          <a:lstStyle/>
          <a:p>
            <a:pPr algn="ctr"/>
            <a:r>
              <a:rPr lang="en-US">
                <a:ea typeface="+mj-lt"/>
                <a:cs typeface="+mj-lt"/>
              </a:rPr>
              <a:t>Analiza statystyczna i predykcyjna danych piłkarskich Premier League (2020-2024)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F97AC-6888-F710-75BD-78EE8DC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43037" y="689826"/>
            <a:ext cx="2703777" cy="338328"/>
          </a:xfrm>
        </p:spPr>
        <p:txBody>
          <a:bodyPr/>
          <a:lstStyle/>
          <a:p>
            <a:pPr algn="ctr"/>
            <a:r>
              <a:rPr lang="en-US" sz="1000" dirty="0"/>
              <a:t>Mateusz </a:t>
            </a:r>
            <a:r>
              <a:rPr lang="en-US" sz="1000" err="1"/>
              <a:t>Dworowy</a:t>
            </a:r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362CF-5CE0-476A-DBD6-C8A0D85B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48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88D6E-732E-8426-11EA-E7C85F97F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Cel </a:t>
            </a:r>
            <a:r>
              <a:rPr lang="en-US" sz="3600" err="1"/>
              <a:t>projektu</a:t>
            </a:r>
            <a:endParaRPr lang="en-US" sz="360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F3070-5975-59EF-8144-CF44AA55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0FE027-44A7-C9A2-18AF-9548CF41C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CD6E7B-DFC7-2D2B-C023-4807AA4C4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b="1" dirty="0" err="1">
                <a:ea typeface="+mn-lt"/>
                <a:cs typeface="+mn-lt"/>
              </a:rPr>
              <a:t>Główne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pytania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badawcze</a:t>
            </a:r>
            <a:r>
              <a:rPr lang="en-US" sz="2000" b="1" dirty="0">
                <a:ea typeface="+mn-lt"/>
                <a:cs typeface="+mn-lt"/>
              </a:rPr>
              <a:t>: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 </a:t>
            </a:r>
            <a:r>
              <a:rPr lang="en-US" sz="2000" err="1">
                <a:ea typeface="+mn-lt"/>
                <a:cs typeface="+mn-lt"/>
              </a:rPr>
              <a:t>Czy</a:t>
            </a:r>
            <a:r>
              <a:rPr lang="en-US" sz="2000" dirty="0">
                <a:ea typeface="+mn-lt"/>
                <a:cs typeface="+mn-lt"/>
              </a:rPr>
              <a:t> „</a:t>
            </a:r>
            <a:r>
              <a:rPr lang="en-US" sz="2000" err="1">
                <a:ea typeface="+mn-lt"/>
                <a:cs typeface="+mn-lt"/>
              </a:rPr>
              <a:t>atut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własnego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boiska</a:t>
            </a:r>
            <a:r>
              <a:rPr lang="en-US" sz="2000" dirty="0">
                <a:ea typeface="+mn-lt"/>
                <a:cs typeface="+mn-lt"/>
              </a:rPr>
              <a:t>” jest </a:t>
            </a:r>
            <a:r>
              <a:rPr lang="en-US" sz="2000" err="1">
                <a:ea typeface="+mn-lt"/>
                <a:cs typeface="+mn-lt"/>
              </a:rPr>
              <a:t>mitem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err="1">
                <a:ea typeface="+mn-lt"/>
                <a:cs typeface="+mn-lt"/>
              </a:rPr>
              <a:t>czy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faktem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statystycznym</a:t>
            </a:r>
            <a:r>
              <a:rPr lang="en-US" sz="2000" dirty="0">
                <a:ea typeface="+mn-lt"/>
                <a:cs typeface="+mn-lt"/>
              </a:rPr>
              <a:t>?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 Jakie </a:t>
            </a:r>
            <a:r>
              <a:rPr lang="en-US" sz="2000" dirty="0" err="1">
                <a:ea typeface="+mn-lt"/>
                <a:cs typeface="+mn-lt"/>
              </a:rPr>
              <a:t>statystyki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meczowe</a:t>
            </a:r>
            <a:r>
              <a:rPr lang="en-US" sz="2000" dirty="0">
                <a:ea typeface="+mn-lt"/>
                <a:cs typeface="+mn-lt"/>
              </a:rPr>
              <a:t> (</a:t>
            </a:r>
            <a:r>
              <a:rPr lang="en-US" sz="2000" dirty="0" err="1">
                <a:ea typeface="+mn-lt"/>
                <a:cs typeface="+mn-lt"/>
              </a:rPr>
              <a:t>strzały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rożne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faule</a:t>
            </a:r>
            <a:r>
              <a:rPr lang="en-US" sz="2000" dirty="0">
                <a:ea typeface="+mn-lt"/>
                <a:cs typeface="+mn-lt"/>
              </a:rPr>
              <a:t>) </a:t>
            </a:r>
            <a:r>
              <a:rPr lang="en-US" sz="2000" dirty="0" err="1">
                <a:ea typeface="+mn-lt"/>
                <a:cs typeface="+mn-lt"/>
              </a:rPr>
              <a:t>mają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największy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wpływ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końcowy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wynik</a:t>
            </a:r>
            <a:r>
              <a:rPr lang="en-US" sz="2000" dirty="0">
                <a:ea typeface="+mn-lt"/>
                <a:cs typeface="+mn-lt"/>
              </a:rPr>
              <a:t>?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 </a:t>
            </a:r>
            <a:r>
              <a:rPr lang="en-US" sz="2000" dirty="0" err="1">
                <a:ea typeface="+mn-lt"/>
                <a:cs typeface="+mn-lt"/>
              </a:rPr>
              <a:t>Czy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można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przewidzieć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wynik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meczu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podstawie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danych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historycznych</a:t>
            </a:r>
            <a:r>
              <a:rPr lang="en-US" sz="2000" dirty="0">
                <a:ea typeface="+mn-lt"/>
                <a:cs typeface="+mn-lt"/>
              </a:rPr>
              <a:t>?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b="1" err="1">
                <a:ea typeface="+mn-lt"/>
                <a:cs typeface="+mn-lt"/>
              </a:rPr>
              <a:t>Zakres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analizy</a:t>
            </a:r>
            <a:r>
              <a:rPr lang="en-US" sz="2000" b="1" dirty="0">
                <a:ea typeface="+mn-lt"/>
                <a:cs typeface="+mn-lt"/>
              </a:rPr>
              <a:t>: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Ponad</a:t>
            </a:r>
            <a:r>
              <a:rPr lang="en-US" sz="2000" dirty="0">
                <a:ea typeface="+mn-lt"/>
                <a:cs typeface="+mn-lt"/>
              </a:rPr>
              <a:t> 1500 </a:t>
            </a:r>
            <a:r>
              <a:rPr lang="en-US" sz="2000" err="1">
                <a:ea typeface="+mn-lt"/>
                <a:cs typeface="+mn-lt"/>
              </a:rPr>
              <a:t>meczów</a:t>
            </a:r>
            <a:r>
              <a:rPr lang="en-US" sz="2000" dirty="0">
                <a:ea typeface="+mn-lt"/>
                <a:cs typeface="+mn-lt"/>
              </a:rPr>
              <a:t> z </a:t>
            </a:r>
            <a:r>
              <a:rPr lang="en-US" sz="2000" err="1">
                <a:ea typeface="+mn-lt"/>
                <a:cs typeface="+mn-lt"/>
              </a:rPr>
              <a:t>ostatnich</a:t>
            </a:r>
            <a:r>
              <a:rPr lang="en-US" sz="2000" dirty="0">
                <a:ea typeface="+mn-lt"/>
                <a:cs typeface="+mn-lt"/>
              </a:rPr>
              <a:t> 4 </a:t>
            </a:r>
            <a:r>
              <a:rPr lang="en-US" sz="2000" err="1">
                <a:ea typeface="+mn-lt"/>
                <a:cs typeface="+mn-lt"/>
              </a:rPr>
              <a:t>sezonów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ligi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angielskiej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39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80F22-5DB1-D6F3-5571-7ED628D71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03202"/>
            <a:ext cx="9942409" cy="876193"/>
          </a:xfrm>
        </p:spPr>
        <p:txBody>
          <a:bodyPr/>
          <a:lstStyle/>
          <a:p>
            <a:r>
              <a:rPr lang="en-US" dirty="0" err="1"/>
              <a:t>Charakterystyka</a:t>
            </a:r>
            <a:r>
              <a:rPr lang="en-US" dirty="0"/>
              <a:t> </a:t>
            </a:r>
            <a:r>
              <a:rPr lang="en-US" dirty="0" err="1"/>
              <a:t>zbioru</a:t>
            </a:r>
            <a:r>
              <a:rPr lang="en-US" dirty="0"/>
              <a:t> </a:t>
            </a:r>
            <a:r>
              <a:rPr lang="en-US" dirty="0" err="1"/>
              <a:t>danych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C4BB35-2065-CF8B-2D4C-697144074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F6FF3-0551-2E4D-42BF-15D131505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F0999-B449-C775-CB93-2153B9E82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E73977-77D3-395D-2A68-A78FC76C9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1582615"/>
            <a:ext cx="9942409" cy="4305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 dirty="0" err="1">
                <a:ea typeface="+mn-lt"/>
                <a:cs typeface="+mn-lt"/>
              </a:rPr>
              <a:t>Źródło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danych</a:t>
            </a:r>
            <a:r>
              <a:rPr lang="en-US" sz="1800" b="1" dirty="0">
                <a:ea typeface="+mn-lt"/>
                <a:cs typeface="+mn-lt"/>
              </a:rPr>
              <a:t>: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Publiczne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repozytorium</a:t>
            </a:r>
            <a:r>
              <a:rPr lang="en-US" sz="1800" dirty="0">
                <a:ea typeface="+mn-lt"/>
                <a:cs typeface="+mn-lt"/>
              </a:rPr>
              <a:t> football-data.co.uk.</a:t>
            </a: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b="1" dirty="0">
                <a:ea typeface="+mn-lt"/>
                <a:cs typeface="+mn-lt"/>
              </a:rPr>
              <a:t>Format: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Pliki</a:t>
            </a:r>
            <a:r>
              <a:rPr lang="en-US" sz="1800" dirty="0">
                <a:ea typeface="+mn-lt"/>
                <a:cs typeface="+mn-lt"/>
              </a:rPr>
              <a:t> CSV </a:t>
            </a:r>
            <a:r>
              <a:rPr lang="en-US" sz="1800" dirty="0" err="1">
                <a:ea typeface="+mn-lt"/>
                <a:cs typeface="+mn-lt"/>
              </a:rPr>
              <a:t>łączone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dynamicznie</a:t>
            </a:r>
            <a:r>
              <a:rPr lang="en-US" sz="1800" dirty="0">
                <a:ea typeface="+mn-lt"/>
                <a:cs typeface="+mn-lt"/>
              </a:rPr>
              <a:t> za </a:t>
            </a:r>
            <a:r>
              <a:rPr lang="en-US" sz="1800" dirty="0" err="1">
                <a:ea typeface="+mn-lt"/>
                <a:cs typeface="+mn-lt"/>
              </a:rPr>
              <a:t>pomocą</a:t>
            </a:r>
            <a:r>
              <a:rPr lang="en-US" sz="1800" dirty="0">
                <a:ea typeface="+mn-lt"/>
                <a:cs typeface="+mn-lt"/>
              </a:rPr>
              <a:t> Pandas.</a:t>
            </a:r>
            <a:endParaRPr lang="en-US" sz="1800" dirty="0"/>
          </a:p>
          <a:p>
            <a:r>
              <a:rPr lang="en-US" sz="1800" b="1" dirty="0" err="1">
                <a:ea typeface="+mn-lt"/>
                <a:cs typeface="+mn-lt"/>
              </a:rPr>
              <a:t>Kluczowe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zmienne</a:t>
            </a:r>
            <a:r>
              <a:rPr lang="en-US" sz="1800" b="1" dirty="0">
                <a:ea typeface="+mn-lt"/>
                <a:cs typeface="+mn-lt"/>
              </a:rPr>
              <a:t>:</a:t>
            </a: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err="1">
                <a:ea typeface="+mn-lt"/>
                <a:cs typeface="+mn-lt"/>
              </a:rPr>
              <a:t>HomeTeam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AwayTeam</a:t>
            </a:r>
            <a:r>
              <a:rPr lang="en-US" sz="1800" dirty="0">
                <a:ea typeface="+mn-lt"/>
                <a:cs typeface="+mn-lt"/>
              </a:rPr>
              <a:t> – </a:t>
            </a:r>
            <a:r>
              <a:rPr lang="en-US" sz="1800" err="1">
                <a:ea typeface="+mn-lt"/>
                <a:cs typeface="+mn-lt"/>
              </a:rPr>
              <a:t>Drużyny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FTHG, FTAG – Gole (Full Time Home/Away Goals).</a:t>
            </a: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HST, AST – </a:t>
            </a:r>
            <a:r>
              <a:rPr lang="en-US" sz="1800" err="1">
                <a:ea typeface="+mn-lt"/>
                <a:cs typeface="+mn-lt"/>
              </a:rPr>
              <a:t>Strzały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celne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HC, AC – </a:t>
            </a:r>
            <a:r>
              <a:rPr lang="en-US" sz="1800" err="1">
                <a:ea typeface="+mn-lt"/>
                <a:cs typeface="+mn-lt"/>
              </a:rPr>
              <a:t>Rzuty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rożne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 dirty="0"/>
          </a:p>
          <a:p>
            <a:endParaRPr lang="en-US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696F9E-A5CC-7C39-9157-4C1F04368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106" y="2874718"/>
            <a:ext cx="5833697" cy="408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75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925E1-8F32-C476-0A93-972DA29EB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558575"/>
            <a:ext cx="9942409" cy="876193"/>
          </a:xfrm>
        </p:spPr>
        <p:txBody>
          <a:bodyPr/>
          <a:lstStyle/>
          <a:p>
            <a:r>
              <a:rPr lang="en-US" dirty="0" err="1"/>
              <a:t>Wstępna</a:t>
            </a:r>
            <a:r>
              <a:rPr lang="en-US" dirty="0"/>
              <a:t> </a:t>
            </a:r>
            <a:r>
              <a:rPr lang="en-US" dirty="0" err="1"/>
              <a:t>obróbka</a:t>
            </a:r>
            <a:r>
              <a:rPr lang="en-US" dirty="0"/>
              <a:t> </a:t>
            </a:r>
            <a:r>
              <a:rPr lang="en-US" dirty="0" err="1"/>
              <a:t>danych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6523D-251A-1E36-56F6-AE2B1C6D8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9FC3A-67A4-DCA1-F89C-F658C38EA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A24903-3911-06A9-0748-4523CC389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1B334DB-2F8B-F2D7-393A-B7DD9113FF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152" y="3430863"/>
            <a:ext cx="7439025" cy="3019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F53DFD-4D1B-8632-631F-67F319AFF097}"/>
              </a:ext>
            </a:extLst>
          </p:cNvPr>
          <p:cNvSpPr txBox="1"/>
          <p:nvPr/>
        </p:nvSpPr>
        <p:spPr>
          <a:xfrm>
            <a:off x="430059" y="1261505"/>
            <a:ext cx="8103576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Konwersja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dat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format datetime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Selekcja</a:t>
            </a:r>
            <a:r>
              <a:rPr lang="en-US" dirty="0">
                <a:ea typeface="+mn-lt"/>
                <a:cs typeface="+mn-lt"/>
              </a:rPr>
              <a:t> 22 </a:t>
            </a:r>
            <a:r>
              <a:rPr lang="en-US" dirty="0" err="1">
                <a:ea typeface="+mn-lt"/>
                <a:cs typeface="+mn-lt"/>
              </a:rPr>
              <a:t>istotnych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kolumn</a:t>
            </a:r>
            <a:r>
              <a:rPr lang="en-US" dirty="0">
                <a:ea typeface="+mn-lt"/>
                <a:cs typeface="+mn-lt"/>
              </a:rPr>
              <a:t> ze </a:t>
            </a:r>
            <a:r>
              <a:rPr lang="en-US" dirty="0" err="1">
                <a:ea typeface="+mn-lt"/>
                <a:cs typeface="+mn-lt"/>
              </a:rPr>
              <a:t>zbioru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liczącego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pierwotnie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ponad</a:t>
            </a:r>
            <a:r>
              <a:rPr lang="en-US" dirty="0">
                <a:ea typeface="+mn-lt"/>
                <a:cs typeface="+mn-lt"/>
              </a:rPr>
              <a:t> 100 </a:t>
            </a:r>
            <a:r>
              <a:rPr lang="en-US" dirty="0" err="1">
                <a:ea typeface="+mn-lt"/>
                <a:cs typeface="+mn-lt"/>
              </a:rPr>
              <a:t>pozycji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Obsługa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brakujących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danych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usuwanie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rekordów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niekompletnych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Stworzenie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nowej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zmiennej</a:t>
            </a:r>
            <a:r>
              <a:rPr lang="en-US" dirty="0">
                <a:ea typeface="+mn-lt"/>
                <a:cs typeface="+mn-lt"/>
              </a:rPr>
              <a:t> TotalGoals (</a:t>
            </a:r>
            <a:r>
              <a:rPr lang="en-US" dirty="0" err="1">
                <a:ea typeface="+mn-lt"/>
                <a:cs typeface="+mn-lt"/>
              </a:rPr>
              <a:t>łączna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liczba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goli</a:t>
            </a:r>
            <a:r>
              <a:rPr lang="en-US" dirty="0">
                <a:ea typeface="+mn-lt"/>
                <a:cs typeface="+mn-lt"/>
              </a:rPr>
              <a:t>) I </a:t>
            </a:r>
            <a:r>
              <a:rPr lang="en-US" dirty="0" err="1">
                <a:ea typeface="+mn-lt"/>
                <a:cs typeface="+mn-lt"/>
              </a:rPr>
              <a:t>HomeWin</a:t>
            </a:r>
            <a:endParaRPr lang="en-US" dirty="0" err="1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211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CAFB1-ABCE-6DF8-CCC9-FAE4D6249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987" y="715945"/>
            <a:ext cx="9942409" cy="876193"/>
          </a:xfrm>
        </p:spPr>
        <p:txBody>
          <a:bodyPr/>
          <a:lstStyle/>
          <a:p>
            <a:r>
              <a:rPr lang="en-US" dirty="0"/>
              <a:t>Analiza</a:t>
            </a:r>
            <a:br>
              <a:rPr lang="en-US" dirty="0"/>
            </a:br>
            <a:r>
              <a:rPr lang="en-US" dirty="0"/>
              <a:t> </a:t>
            </a:r>
            <a:r>
              <a:rPr lang="en-US" dirty="0" err="1"/>
              <a:t>wizualna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77DEEC-160F-6196-F547-2B94C6561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E4B19-6382-3211-0E45-E1FCB7AD6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A9E2D6-A77B-029A-4718-561F3574B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BCAB1B-2E06-5DD8-91C0-B228DBE80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218" y="207065"/>
            <a:ext cx="9781977" cy="644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288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6EA76-A14D-D553-730C-57958256E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Analiza </a:t>
            </a:r>
            <a:r>
              <a:rPr lang="en-US" dirty="0" err="1"/>
              <a:t>statystyczna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93E770-8D45-065C-5482-09B3ECF39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E9A9-2D82-D94D-4857-73FFBCC40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D4D27-A12A-5337-0119-8E9BED9DE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118A11-4025-7E0F-EE05-274A5C2E2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1711187"/>
            <a:ext cx="3747018" cy="4305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Test</a:t>
            </a:r>
            <a:endParaRPr lang="en-US" b="1" dirty="0"/>
          </a:p>
          <a:p>
            <a:r>
              <a:rPr lang="en-US" b="1" dirty="0" err="1">
                <a:ea typeface="+mn-lt"/>
                <a:cs typeface="+mn-lt"/>
              </a:rPr>
              <a:t>Hipoteza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Sprawdzenie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czy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średnia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goli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gospodarzy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istotnie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różni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się</a:t>
            </a:r>
            <a:r>
              <a:rPr lang="en-US" dirty="0">
                <a:ea typeface="+mn-lt"/>
                <a:cs typeface="+mn-lt"/>
              </a:rPr>
              <a:t> od </a:t>
            </a:r>
            <a:r>
              <a:rPr lang="en-US" dirty="0" err="1">
                <a:ea typeface="+mn-lt"/>
                <a:cs typeface="+mn-lt"/>
              </a:rPr>
              <a:t>gości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err="1">
                <a:ea typeface="+mn-lt"/>
                <a:cs typeface="+mn-lt"/>
              </a:rPr>
              <a:t>Wynik</a:t>
            </a:r>
            <a:r>
              <a:rPr lang="en-US" b="1">
                <a:ea typeface="+mn-lt"/>
                <a:cs typeface="+mn-lt"/>
              </a:rPr>
              <a:t>:</a:t>
            </a:r>
            <a:r>
              <a:rPr lang="en-US">
                <a:ea typeface="+mn-lt"/>
                <a:cs typeface="+mn-lt"/>
              </a:rPr>
              <a:t> p-value &lt; 0.05.</a:t>
            </a:r>
            <a:endParaRPr lang="en-US"/>
          </a:p>
          <a:p>
            <a:r>
              <a:rPr lang="en-US" b="1" err="1">
                <a:ea typeface="+mn-lt"/>
                <a:cs typeface="+mn-lt"/>
              </a:rPr>
              <a:t>Wniosek</a:t>
            </a:r>
            <a:r>
              <a:rPr lang="en-US" b="1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Atut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własnego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boiska</a:t>
            </a:r>
            <a:r>
              <a:rPr lang="en-US">
                <a:ea typeface="+mn-lt"/>
                <a:cs typeface="+mn-lt"/>
              </a:rPr>
              <a:t> jest </a:t>
            </a:r>
            <a:r>
              <a:rPr lang="en-US" b="1" err="1">
                <a:ea typeface="+mn-lt"/>
                <a:cs typeface="+mn-lt"/>
              </a:rPr>
              <a:t>istotny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statystycznie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b="1" err="1">
                <a:ea typeface="+mn-lt"/>
                <a:cs typeface="+mn-lt"/>
              </a:rPr>
              <a:t>Korelacje</a:t>
            </a:r>
            <a:r>
              <a:rPr lang="en-US" b="1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Strzały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celne</a:t>
            </a:r>
            <a:r>
              <a:rPr lang="en-US">
                <a:ea typeface="+mn-lt"/>
                <a:cs typeface="+mn-lt"/>
              </a:rPr>
              <a:t> (HST) </a:t>
            </a:r>
            <a:r>
              <a:rPr lang="en-US" err="1">
                <a:ea typeface="+mn-lt"/>
                <a:cs typeface="+mn-lt"/>
              </a:rPr>
              <a:t>są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silniej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skorelowane</a:t>
            </a:r>
            <a:r>
              <a:rPr lang="en-US">
                <a:ea typeface="+mn-lt"/>
                <a:cs typeface="+mn-lt"/>
              </a:rPr>
              <a:t> z </a:t>
            </a:r>
            <a:r>
              <a:rPr lang="en-US" err="1">
                <a:ea typeface="+mn-lt"/>
                <a:cs typeface="+mn-lt"/>
              </a:rPr>
              <a:t>wynikiem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niż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rzuty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rożne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czy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faule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C76FA5-8077-4DF0-0977-AC8311521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045" y="0"/>
            <a:ext cx="83907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221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48A01-9C6C-4CA6-4A9A-82D9693C8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Zaawansowana</a:t>
            </a:r>
            <a:r>
              <a:rPr lang="en-US"/>
              <a:t> </a:t>
            </a:r>
            <a:r>
              <a:rPr lang="en-US" err="1"/>
              <a:t>analiza</a:t>
            </a:r>
            <a:r>
              <a:rPr lang="en-US"/>
              <a:t> – Szeregi czasowe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8A311D-36F0-D57A-A463-DDC29FEF7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58D51-D0A5-5144-80A3-F59F66F8B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71A29-E0C5-CD44-3AEC-E8B96EFC3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7847499-C4B5-53BA-510E-868032DF7E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980" y="1711187"/>
            <a:ext cx="9280476" cy="478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099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5014C-66F9-4E32-ADD8-8BFCFCC32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Zaawansowana</a:t>
            </a:r>
            <a:r>
              <a:rPr lang="en-US"/>
              <a:t> </a:t>
            </a:r>
            <a:r>
              <a:rPr lang="en-US" err="1"/>
              <a:t>analiza</a:t>
            </a:r>
            <a:r>
              <a:rPr lang="en-US"/>
              <a:t> – Predykcja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E28161-CE86-20BE-1349-CDC79DD3E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CAEB6-C69E-1F4B-26EB-A86FFCA3F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BC1B44-887F-BEC3-C26C-D0C10F724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CED7C-0FBB-0780-EC87-F2D9330D4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2133600"/>
            <a:ext cx="4939714" cy="43053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Model:</a:t>
            </a:r>
            <a:r>
              <a:rPr lang="en-US" dirty="0">
                <a:ea typeface="+mn-lt"/>
                <a:cs typeface="+mn-lt"/>
              </a:rPr>
              <a:t> Random Forest Classifier.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Zadanie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Przewidywanie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wyniku</a:t>
            </a:r>
            <a:r>
              <a:rPr lang="en-US" dirty="0">
                <a:ea typeface="+mn-lt"/>
                <a:cs typeface="+mn-lt"/>
              </a:rPr>
              <a:t> (H / D / A).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Skuteczność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Ok. 60% (</a:t>
            </a:r>
            <a:r>
              <a:rPr lang="en-US" dirty="0" err="1">
                <a:ea typeface="+mn-lt"/>
                <a:cs typeface="+mn-lt"/>
              </a:rPr>
              <a:t>wysoka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trafność</a:t>
            </a:r>
            <a:r>
              <a:rPr lang="en-US" dirty="0">
                <a:ea typeface="+mn-lt"/>
                <a:cs typeface="+mn-lt"/>
              </a:rPr>
              <a:t> jak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sport o </a:t>
            </a:r>
            <a:r>
              <a:rPr lang="en-US" dirty="0" err="1">
                <a:ea typeface="+mn-lt"/>
                <a:cs typeface="+mn-lt"/>
              </a:rPr>
              <a:t>tak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dużej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losowości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Co jest </a:t>
            </a:r>
            <a:r>
              <a:rPr lang="en-US" b="1" dirty="0" err="1">
                <a:ea typeface="+mn-lt"/>
                <a:cs typeface="+mn-lt"/>
              </a:rPr>
              <a:t>najważniejsze</a:t>
            </a:r>
            <a:r>
              <a:rPr lang="en-US" b="1" dirty="0">
                <a:ea typeface="+mn-lt"/>
                <a:cs typeface="+mn-lt"/>
              </a:rPr>
              <a:t>?</a:t>
            </a:r>
            <a:r>
              <a:rPr lang="en-US" dirty="0">
                <a:ea typeface="+mn-lt"/>
                <a:cs typeface="+mn-lt"/>
              </a:rPr>
              <a:t> Model </a:t>
            </a:r>
            <a:r>
              <a:rPr lang="en-US" dirty="0" err="1">
                <a:ea typeface="+mn-lt"/>
                <a:cs typeface="+mn-lt"/>
              </a:rPr>
              <a:t>wskazał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strzały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celne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rzuty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rożne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jako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kluczowe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czynniki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sukcesu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9216B4-6D61-7900-F420-755B937F5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290" y="2137121"/>
            <a:ext cx="6404942" cy="401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648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9CCCE-CB33-077B-B6B8-62F2DF70D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/>
              <a:t>Podsumowanie</a:t>
            </a:r>
            <a:r>
              <a:rPr lang="en-US" sz="3600" dirty="0"/>
              <a:t> </a:t>
            </a:r>
            <a:r>
              <a:rPr lang="en-US" sz="3600" dirty="0" err="1"/>
              <a:t>i</a:t>
            </a:r>
            <a:r>
              <a:rPr lang="en-US" sz="3600" dirty="0"/>
              <a:t> </a:t>
            </a:r>
            <a:r>
              <a:rPr lang="en-US" sz="3600" dirty="0" err="1"/>
              <a:t>wnioski</a:t>
            </a:r>
            <a:endParaRPr lang="en-US" sz="3600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27EB7B-B14E-B009-C049-4FCD4ECA8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7A9C3-45CD-6EB6-EF93-BD1165260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C3CF7E-5F1D-DE7C-F37A-082D8C710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E1581-3207-F376-DC59-39C707094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200" err="1">
                <a:ea typeface="+mn-lt"/>
                <a:cs typeface="+mn-lt"/>
              </a:rPr>
              <a:t>Statystyki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potwierdzają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przewagę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gospodarzy</a:t>
            </a:r>
            <a:r>
              <a:rPr lang="en-US" sz="3200" dirty="0">
                <a:ea typeface="+mn-lt"/>
                <a:cs typeface="+mn-lt"/>
              </a:rPr>
              <a:t>.</a:t>
            </a:r>
            <a:endParaRPr lang="en-US" sz="3200"/>
          </a:p>
          <a:p>
            <a:pPr marL="285750" indent="-285750">
              <a:buFont typeface="Arial"/>
              <a:buChar char="•"/>
            </a:pPr>
            <a:r>
              <a:rPr lang="en-US" sz="3200" err="1">
                <a:ea typeface="+mn-lt"/>
                <a:cs typeface="+mn-lt"/>
              </a:rPr>
              <a:t>Strzały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celne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są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najlepszym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wskaźnikiem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jakości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gry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drużyny</a:t>
            </a:r>
            <a:r>
              <a:rPr lang="en-US" sz="3200" dirty="0">
                <a:ea typeface="+mn-lt"/>
                <a:cs typeface="+mn-lt"/>
              </a:rPr>
              <a:t>.</a:t>
            </a:r>
            <a:endParaRPr lang="en-US" sz="3200"/>
          </a:p>
          <a:p>
            <a:pPr marL="285750" indent="-285750">
              <a:buFont typeface="Arial"/>
              <a:buChar char="•"/>
            </a:pPr>
            <a:r>
              <a:rPr lang="en-US" sz="3200" err="1">
                <a:ea typeface="+mn-lt"/>
                <a:cs typeface="+mn-lt"/>
              </a:rPr>
              <a:t>Uczenie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maszynowe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pozwala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na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skuteczne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typowanie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wyników</a:t>
            </a:r>
            <a:r>
              <a:rPr lang="en-US" sz="3200" dirty="0">
                <a:ea typeface="+mn-lt"/>
                <a:cs typeface="+mn-lt"/>
              </a:rPr>
              <a:t>, </a:t>
            </a:r>
            <a:r>
              <a:rPr lang="en-US" sz="3200" err="1">
                <a:ea typeface="+mn-lt"/>
                <a:cs typeface="+mn-lt"/>
              </a:rPr>
              <a:t>choć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czynnik</a:t>
            </a:r>
            <a:r>
              <a:rPr lang="en-US" sz="3200" dirty="0">
                <a:ea typeface="+mn-lt"/>
                <a:cs typeface="+mn-lt"/>
              </a:rPr>
              <a:t> "</a:t>
            </a:r>
            <a:r>
              <a:rPr lang="en-US" sz="3200" err="1">
                <a:ea typeface="+mn-lt"/>
                <a:cs typeface="+mn-lt"/>
              </a:rPr>
              <a:t>szczęścia</a:t>
            </a:r>
            <a:r>
              <a:rPr lang="en-US" sz="3200" dirty="0">
                <a:ea typeface="+mn-lt"/>
                <a:cs typeface="+mn-lt"/>
              </a:rPr>
              <a:t>" </a:t>
            </a:r>
            <a:r>
              <a:rPr lang="en-US" sz="3200" err="1">
                <a:ea typeface="+mn-lt"/>
                <a:cs typeface="+mn-lt"/>
              </a:rPr>
              <a:t>wciąż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odgrywa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rolę</a:t>
            </a:r>
            <a:r>
              <a:rPr lang="en-US" sz="3200" dirty="0">
                <a:ea typeface="+mn-lt"/>
                <a:cs typeface="+mn-lt"/>
              </a:rPr>
              <a:t>.</a:t>
            </a:r>
            <a:endParaRPr lang="en-US" sz="320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435196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_win32_Liz_v4" id="{15E0A01B-C0A0-4E33-97EB-A34D3C451DCF}" vid="{FB8E1E66-9252-4554-A1C4-ACC82554D8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MediaServiceKeyPoints xmlns="71af3243-3dd4-4a8d-8c0d-dd76da1f02a5" xsi:nil="true"/>
    <SharedWithUsers xmlns="16c05727-aa75-4e4a-9b5f-8a80a1165891">
      <UserInfo>
        <DisplayName/>
        <AccountId xsi:nil="true"/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B53938E-C8DA-4DDE-A937-0EA87B476A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60BF7B2-4A2B-4CA7-8150-68B962AD6E62}">
  <ds:schemaRefs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purl.org/dc/dcmitype/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C27E2546-C5EB-442C-BCA8-1B0D17D6142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</Words>
  <Application>Microsoft Office PowerPoint</Application>
  <PresentationFormat>Widescreen</PresentationFormat>
  <Paragraphs>4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Film burn</vt:lpstr>
      <vt:lpstr>Analiza statystyczna i predykcyjna danych piłkarskich Premier League (2020-2024)</vt:lpstr>
      <vt:lpstr>Cel projektu </vt:lpstr>
      <vt:lpstr>Charakterystyka zbioru danych </vt:lpstr>
      <vt:lpstr>Wstępna obróbka danych </vt:lpstr>
      <vt:lpstr>Analiza  wizualna </vt:lpstr>
      <vt:lpstr>Analiza statystyczna </vt:lpstr>
      <vt:lpstr>Zaawansowana analiza – Szeregi czasowe </vt:lpstr>
      <vt:lpstr>Zaawansowana analiza – Predykcja </vt:lpstr>
      <vt:lpstr>Podsumowanie i wnioski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79</cp:revision>
  <dcterms:created xsi:type="dcterms:W3CDTF">2026-01-17T14:09:13Z</dcterms:created>
  <dcterms:modified xsi:type="dcterms:W3CDTF">2026-01-17T14:31:21Z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Order">
    <vt:r8>2365000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